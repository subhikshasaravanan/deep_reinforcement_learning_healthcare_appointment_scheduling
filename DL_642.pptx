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64" r:id="rId5"/>
    <p:sldId id="265" r:id="rId6"/>
    <p:sldId id="258" r:id="rId7"/>
    <p:sldId id="266" r:id="rId8"/>
    <p:sldId id="267" r:id="rId9"/>
    <p:sldId id="268" r:id="rId10"/>
    <p:sldId id="269" r:id="rId11"/>
    <p:sldId id="262" r:id="rId12"/>
  </p:sldIdLst>
  <p:sldSz cx="12192000" cy="6858000"/>
  <p:notesSz cx="6858000" cy="9144000"/>
  <p:embeddedFontLst>
    <p:embeddedFont>
      <p:font typeface="Bookman Old Style" panose="02050604050505020204" pitchFamily="18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ExtraBold" panose="020B0906030804020204" pitchFamily="34" charset="0"/>
      <p:bold r:id="rId22"/>
      <p:boldItalic r:id="rId23"/>
    </p:embeddedFont>
    <p:embeddedFont>
      <p:font typeface="Open Sans ExtraBold" panose="020B0906030804020204" pitchFamily="34" charset="0"/>
      <p:bold r:id="rId22"/>
      <p:boldItalic r:id="rId23"/>
    </p:embeddedFont>
    <p:embeddedFont>
      <p:font typeface="Oswald" panose="00000500000000000000" pitchFamily="2" charset="0"/>
      <p:regular r:id="rId24"/>
      <p:bold r:id="rId25"/>
      <p:italic r:id="rId26"/>
      <p:boldItalic r:id="rId27"/>
    </p:embeddedFont>
    <p:embeddedFont>
      <p:font typeface="OSWALD MEDIUMITALIC" panose="020B0604020202020204" charset="0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el7yHO2ytr50e6vkC5J+GYoAW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4DD"/>
    <a:srgbClr val="E6E5DC"/>
    <a:srgbClr val="F7F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65360" autoAdjust="0"/>
  </p:normalViewPr>
  <p:slideViewPr>
    <p:cSldViewPr snapToGrid="0">
      <p:cViewPr varScale="1">
        <p:scale>
          <a:sx n="55" d="100"/>
          <a:sy n="55" d="100"/>
        </p:scale>
        <p:origin x="17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Hi, this project is titled Personalized Healthcare Appointment Scheduling using Deep Reinforcement Learning, done by Gauri and </a:t>
            </a:r>
            <a:r>
              <a:rPr lang="en-US" dirty="0" err="1"/>
              <a:t>Subhiksha.The</a:t>
            </a:r>
            <a:r>
              <a:rPr lang="en-US" dirty="0"/>
              <a:t> goal is to improve outpatient scheduling using reinforcement learning instead of static heuristics like FIFO or Shortest-Job-First.</a:t>
            </a:r>
            <a:endParaRPr dirty="0"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Outpatient clinics face several challenges — patient arrivals are unpredictable, consultation times vary, and no-shows create </a:t>
            </a:r>
            <a:r>
              <a:rPr lang="en-US" dirty="0" err="1"/>
              <a:t>gaps.Traditional</a:t>
            </a:r>
            <a:r>
              <a:rPr lang="en-US" dirty="0"/>
              <a:t> scheduling methods like FIFO are simple and fair, but they don’t use any predictive </a:t>
            </a:r>
            <a:r>
              <a:rPr lang="en-US" dirty="0" err="1"/>
              <a:t>information.SJF</a:t>
            </a:r>
            <a:r>
              <a:rPr lang="en-US" dirty="0"/>
              <a:t> improves throughput by serving short consultations first, but this can lead to extremely long waiting times for other </a:t>
            </a:r>
            <a:r>
              <a:rPr lang="en-US" dirty="0" err="1"/>
              <a:t>patients.We</a:t>
            </a:r>
            <a:r>
              <a:rPr lang="en-US" dirty="0"/>
              <a:t> need a method that is adaptive, handles uncertainty, and can dynamically balance efficiency and fairness.</a:t>
            </a:r>
            <a:endParaRPr dirty="0"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57A4611-D90F-9587-369C-F9FF7256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22702C8E-18E6-B741-1FFC-0886AB3A2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model appointment scheduling as a Markov Decision </a:t>
            </a:r>
            <a:r>
              <a:rPr lang="en-US" dirty="0" err="1"/>
              <a:t>Process.Each</a:t>
            </a:r>
            <a:r>
              <a:rPr lang="en-US" dirty="0"/>
              <a:t> patient arrival represents a decision point for allocating a time </a:t>
            </a:r>
            <a:r>
              <a:rPr lang="en-US" dirty="0" err="1"/>
              <a:t>slot.The</a:t>
            </a:r>
            <a:r>
              <a:rPr lang="en-US" dirty="0"/>
              <a:t> state includes the queue length, predicted duration, severity, no-show probability, and time of </a:t>
            </a:r>
            <a:r>
              <a:rPr lang="en-US" dirty="0" err="1"/>
              <a:t>day.The</a:t>
            </a:r>
            <a:r>
              <a:rPr lang="en-US" dirty="0"/>
              <a:t> action is choosing one of several upcoming appointment </a:t>
            </a:r>
            <a:r>
              <a:rPr lang="en-US" dirty="0" err="1"/>
              <a:t>slots.The</a:t>
            </a:r>
            <a:r>
              <a:rPr lang="en-US" dirty="0"/>
              <a:t> reward penalizes waiting time, idle time, and no-shows, encouraging the agent to maximize throughput without harming patient experience.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BDE451BE-132A-7A14-80FB-DB69776EC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85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D092D95-DBC2-D9F8-4C40-0A55904D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B6DA1C7D-E3E7-46FE-C535-2B3BEC260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compare four </a:t>
            </a:r>
            <a:r>
              <a:rPr lang="en-US" dirty="0" err="1"/>
              <a:t>approaches.Two</a:t>
            </a:r>
            <a:r>
              <a:rPr lang="en-US" dirty="0"/>
              <a:t> heuristics: FIFO and </a:t>
            </a:r>
            <a:r>
              <a:rPr lang="en-US" dirty="0" err="1"/>
              <a:t>SJF.And</a:t>
            </a:r>
            <a:r>
              <a:rPr lang="en-US" dirty="0"/>
              <a:t> two reinforcement learning agents: tabular Q-learning and Deep Q-</a:t>
            </a:r>
            <a:r>
              <a:rPr lang="en-US" dirty="0" err="1"/>
              <a:t>Networks.Q</a:t>
            </a:r>
            <a:r>
              <a:rPr lang="en-US" dirty="0"/>
              <a:t>-learning uses a discretized state representation and an ε-greedy exploration </a:t>
            </a:r>
            <a:r>
              <a:rPr lang="en-US" dirty="0" err="1"/>
              <a:t>strategy.DQN</a:t>
            </a:r>
            <a:r>
              <a:rPr lang="en-US" dirty="0"/>
              <a:t> uses a neural network to learn value functions over continuous state spaces, with replay buffers and the Adam optimizer.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66CF75DD-A037-9C26-B3B4-8A83D8693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64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68E685C-3EF1-F2D6-677A-08302FFCC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1FB3FB01-47D2-A0BF-B069-40CE5BC57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simulate a single-day outpatient clinic with 3 doctors, ~55 patients, and 15-minute slots across 8 </a:t>
            </a:r>
            <a:r>
              <a:rPr lang="en-US" dirty="0" err="1"/>
              <a:t>hours.We</a:t>
            </a:r>
            <a:r>
              <a:rPr lang="en-US" dirty="0"/>
              <a:t> used a Poisson arrival model with morning and afternoon rush </a:t>
            </a:r>
            <a:r>
              <a:rPr lang="en-US" dirty="0" err="1"/>
              <a:t>patterns.Performance</a:t>
            </a:r>
            <a:r>
              <a:rPr lang="en-US" dirty="0"/>
              <a:t> was evaluated using average patient waiting time, doctor utilization, overtime, and a combined cost metric that balances all the objectives.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ADE20EBF-F25D-DD2F-65E4-5220DA632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7798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F75C8B4-EAF5-3259-807F-066ECCFA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F7577D76-B64A-370B-FF3D-074B49C97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 our </a:t>
            </a:r>
            <a:r>
              <a:rPr lang="en-US" dirty="0" err="1"/>
              <a:t>results.FIFO</a:t>
            </a:r>
            <a:r>
              <a:rPr lang="en-US" dirty="0"/>
              <a:t> achieved moderate waiting time and </a:t>
            </a:r>
            <a:r>
              <a:rPr lang="en-US" dirty="0" err="1"/>
              <a:t>utilization.SJF</a:t>
            </a:r>
            <a:r>
              <a:rPr lang="en-US" dirty="0"/>
              <a:t> had the highest utilization, but average waiting time increased to more than 100 minutes — which is unrealistic in </a:t>
            </a:r>
            <a:r>
              <a:rPr lang="en-US" dirty="0" err="1"/>
              <a:t>clinics.Q</a:t>
            </a:r>
            <a:r>
              <a:rPr lang="en-US" dirty="0"/>
              <a:t>-Learning reduced waiting times to about 13 </a:t>
            </a:r>
            <a:r>
              <a:rPr lang="en-US" dirty="0" err="1"/>
              <a:t>minutes.DQN</a:t>
            </a:r>
            <a:r>
              <a:rPr lang="en-US" dirty="0"/>
              <a:t> achieved the best performance, with less than 9 minutes of waiting, while maintaining similar utilization and no </a:t>
            </a:r>
            <a:r>
              <a:rPr lang="en-US" dirty="0" err="1"/>
              <a:t>overtime.This</a:t>
            </a:r>
            <a:r>
              <a:rPr lang="en-US" dirty="0"/>
              <a:t> shows that reinforcement learning can learn smarter allocation policies than both heuristics.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FF21C95A-B13D-B346-821B-711D44F22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01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52D631A-267F-3703-DA4B-37D6B1D5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FAE87599-6FAC-9D56-E205-F609E1209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key takeaway is that RL balances multiple objectives </a:t>
            </a:r>
            <a:r>
              <a:rPr lang="en-US" dirty="0" err="1"/>
              <a:t>simultaneously.Classical</a:t>
            </a:r>
            <a:r>
              <a:rPr lang="en-US" dirty="0"/>
              <a:t> methods optimize for one metric, but RL can sacrifice a little utilization to significantly improve waiting </a:t>
            </a:r>
            <a:r>
              <a:rPr lang="en-US" dirty="0" err="1"/>
              <a:t>time.We</a:t>
            </a:r>
            <a:r>
              <a:rPr lang="en-US" dirty="0"/>
              <a:t> also observed that reward design is important — tuning reward weights impacts the learned policy </a:t>
            </a:r>
            <a:r>
              <a:rPr lang="en-US" dirty="0" err="1"/>
              <a:t>behavior.Q</a:t>
            </a:r>
            <a:r>
              <a:rPr lang="en-US" dirty="0"/>
              <a:t>-Learning is easier to interpret, but DQN is able to generalize better due to continuous states.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E7530011-EDA1-469F-59EF-493BC013C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069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35A9CC3-0B55-6170-17B3-8AB922BD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1E2BF453-74EE-8086-08F7-9529B8749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conclusion, Deep Reinforcement Learning significantly improves outpatient scheduling, particularly when patient arrivals and consultation durations are </a:t>
            </a:r>
            <a:r>
              <a:rPr lang="en-US" dirty="0" err="1"/>
              <a:t>uncertain.Future</a:t>
            </a:r>
            <a:r>
              <a:rPr lang="en-US" dirty="0"/>
              <a:t> work includes using multi-agent RL for coordination across multiple doctors, integrating real hospital data, and exploring advanced RL algorithms like Actor-</a:t>
            </a:r>
            <a:r>
              <a:rPr lang="en-US" dirty="0" err="1"/>
              <a:t>Critic.Thank</a:t>
            </a:r>
            <a:r>
              <a:rPr lang="en-US" dirty="0"/>
              <a:t> you.</a:t>
            </a:r>
            <a:endParaRPr dirty="0"/>
          </a:p>
        </p:txBody>
      </p:sp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3901B833-BB2C-1069-734D-F803A829D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8113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9" descr="A building with a dome on the sid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/>
          <p:nvPr/>
        </p:nvSpPr>
        <p:spPr>
          <a:xfrm>
            <a:off x="789935" y="1402598"/>
            <a:ext cx="6858005" cy="267281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924555" y="1276669"/>
            <a:ext cx="6858005" cy="26728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9"/>
          <p:cNvCxnSpPr/>
          <p:nvPr/>
        </p:nvCxnSpPr>
        <p:spPr>
          <a:xfrm>
            <a:off x="10852328" y="481472"/>
            <a:ext cx="398264" cy="0"/>
          </a:xfrm>
          <a:prstGeom prst="straightConnector1">
            <a:avLst/>
          </a:prstGeom>
          <a:noFill/>
          <a:ln w="444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0" name="Google Shape;20;p9"/>
          <p:cNvGrpSpPr/>
          <p:nvPr/>
        </p:nvGrpSpPr>
        <p:grpSpPr>
          <a:xfrm>
            <a:off x="-5" y="6390526"/>
            <a:ext cx="12192005" cy="471720"/>
            <a:chOff x="-5" y="6390526"/>
            <a:chExt cx="12192005" cy="471720"/>
          </a:xfrm>
          <a:solidFill>
            <a:schemeClr val="tx2"/>
          </a:solidFill>
        </p:grpSpPr>
        <p:sp>
          <p:nvSpPr>
            <p:cNvPr id="21" name="Google Shape;21;p9"/>
            <p:cNvSpPr/>
            <p:nvPr/>
          </p:nvSpPr>
          <p:spPr>
            <a:xfrm>
              <a:off x="1" y="6390526"/>
              <a:ext cx="12191999" cy="4674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9"/>
            <p:cNvSpPr/>
            <p:nvPr/>
          </p:nvSpPr>
          <p:spPr>
            <a:xfrm>
              <a:off x="-5" y="6394773"/>
              <a:ext cx="2336806" cy="467473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9"/>
            <p:cNvSpPr/>
            <p:nvPr/>
          </p:nvSpPr>
          <p:spPr>
            <a:xfrm rot="10800000">
              <a:off x="9855193" y="6394773"/>
              <a:ext cx="2336806" cy="467473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1;p8">
            <a:extLst>
              <a:ext uri="{FF2B5EF4-FFF2-40B4-BE49-F238E27FC236}">
                <a16:creationId xmlns:a16="http://schemas.microsoft.com/office/drawing/2014/main" id="{07CADA94-FEA9-1591-6BCC-CD2C45C06BF9}"/>
              </a:ext>
            </a:extLst>
          </p:cNvPr>
          <p:cNvSpPr/>
          <p:nvPr userDrawn="1"/>
        </p:nvSpPr>
        <p:spPr>
          <a:xfrm>
            <a:off x="0" y="6390526"/>
            <a:ext cx="2919983" cy="47172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7771122" y="5486400"/>
            <a:ext cx="4168140" cy="13799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/>
          <p:nvPr/>
        </p:nvSpPr>
        <p:spPr>
          <a:xfrm>
            <a:off x="619760" y="550743"/>
            <a:ext cx="690880" cy="812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8;p10" descr="A logo of a college&#10;&#10;Description automatically generated">
            <a:extLst>
              <a:ext uri="{FF2B5EF4-FFF2-40B4-BE49-F238E27FC236}">
                <a16:creationId xmlns:a16="http://schemas.microsoft.com/office/drawing/2014/main" id="{534A7B56-FA2B-4F16-349F-0FCB79A4A8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820972" y="513473"/>
            <a:ext cx="1076389" cy="1076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/>
          <p:nvPr/>
        </p:nvSpPr>
        <p:spPr>
          <a:xfrm>
            <a:off x="0" y="221989"/>
            <a:ext cx="12192000" cy="641402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2656558" y="2647945"/>
            <a:ext cx="6696000" cy="12059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1"/>
          <p:cNvSpPr/>
          <p:nvPr/>
        </p:nvSpPr>
        <p:spPr>
          <a:xfrm>
            <a:off x="2748000" y="2546346"/>
            <a:ext cx="6696000" cy="12059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11"/>
          <p:cNvGrpSpPr/>
          <p:nvPr/>
        </p:nvGrpSpPr>
        <p:grpSpPr>
          <a:xfrm>
            <a:off x="-5" y="6631765"/>
            <a:ext cx="12192005" cy="226235"/>
            <a:chOff x="-5" y="6390526"/>
            <a:chExt cx="12192005" cy="471720"/>
          </a:xfrm>
        </p:grpSpPr>
        <p:sp>
          <p:nvSpPr>
            <p:cNvPr id="35" name="Google Shape;35;p11"/>
            <p:cNvSpPr/>
            <p:nvPr/>
          </p:nvSpPr>
          <p:spPr>
            <a:xfrm>
              <a:off x="1" y="6390526"/>
              <a:ext cx="12191999" cy="467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1"/>
            <p:cNvSpPr/>
            <p:nvPr/>
          </p:nvSpPr>
          <p:spPr>
            <a:xfrm>
              <a:off x="-5" y="6394773"/>
              <a:ext cx="2336806" cy="467473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1"/>
            <p:cNvSpPr/>
            <p:nvPr/>
          </p:nvSpPr>
          <p:spPr>
            <a:xfrm rot="10800000">
              <a:off x="9855193" y="6394773"/>
              <a:ext cx="2336806" cy="467473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11"/>
          <p:cNvGrpSpPr/>
          <p:nvPr userDrawn="1"/>
        </p:nvGrpSpPr>
        <p:grpSpPr>
          <a:xfrm>
            <a:off x="-5" y="1"/>
            <a:ext cx="12192005" cy="226233"/>
            <a:chOff x="-5" y="6390530"/>
            <a:chExt cx="12192005" cy="471716"/>
          </a:xfrm>
        </p:grpSpPr>
        <p:sp>
          <p:nvSpPr>
            <p:cNvPr id="39" name="Google Shape;39;p11"/>
            <p:cNvSpPr/>
            <p:nvPr/>
          </p:nvSpPr>
          <p:spPr>
            <a:xfrm>
              <a:off x="1" y="6390530"/>
              <a:ext cx="12191999" cy="467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1"/>
            <p:cNvSpPr/>
            <p:nvPr/>
          </p:nvSpPr>
          <p:spPr>
            <a:xfrm>
              <a:off x="-5" y="6394773"/>
              <a:ext cx="2336806" cy="467473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1"/>
            <p:cNvSpPr/>
            <p:nvPr/>
          </p:nvSpPr>
          <p:spPr>
            <a:xfrm rot="10800000">
              <a:off x="9855193" y="6394773"/>
              <a:ext cx="2336806" cy="467473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 userDrawn="1"/>
        </p:nvSpPr>
        <p:spPr>
          <a:xfrm rot="10800000">
            <a:off x="9272016" y="-8389"/>
            <a:ext cx="2919983" cy="671759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62;p14" descr="A logo of a college&#10;&#10;Description automatically generated">
            <a:extLst>
              <a:ext uri="{FF2B5EF4-FFF2-40B4-BE49-F238E27FC236}">
                <a16:creationId xmlns:a16="http://schemas.microsoft.com/office/drawing/2014/main" id="{994027A2-CD38-CB61-E41D-07DA70E8F78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455916" y="182880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2;p3">
            <a:extLst>
              <a:ext uri="{FF2B5EF4-FFF2-40B4-BE49-F238E27FC236}">
                <a16:creationId xmlns:a16="http://schemas.microsoft.com/office/drawing/2014/main" id="{112CA06B-CB80-572C-2C63-16777FD689E3}"/>
              </a:ext>
            </a:extLst>
          </p:cNvPr>
          <p:cNvSpPr txBox="1"/>
          <p:nvPr userDrawn="1"/>
        </p:nvSpPr>
        <p:spPr>
          <a:xfrm>
            <a:off x="2747999" y="3229066"/>
            <a:ext cx="6696001" cy="79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"/>
              <a:buNone/>
            </a:pPr>
            <a:r>
              <a:rPr lang="en-US" sz="5400" i="1" dirty="0">
                <a:solidFill>
                  <a:schemeClr val="tx1"/>
                </a:solidFill>
                <a:latin typeface="OSWALD MEDIUMITALIC" panose="02000603000000000000" pitchFamily="2" charset="77"/>
                <a:ea typeface="Oswald"/>
                <a:cs typeface="Oswald"/>
                <a:sym typeface="Oswald"/>
              </a:rPr>
              <a:t>THANK YOU</a:t>
            </a:r>
            <a:endParaRPr lang="en-US" i="1" dirty="0">
              <a:solidFill>
                <a:schemeClr val="tx1"/>
              </a:solidFill>
              <a:latin typeface="OSWALD MEDIUMITALIC" panose="02000603000000000000" pitchFamily="2" charset="7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B6B6"/>
              </a:buClr>
              <a:buSzPts val="2400"/>
              <a:buNone/>
              <a:defRPr sz="2400" b="1">
                <a:solidFill>
                  <a:schemeClr val="bg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B6B6"/>
              </a:buClr>
              <a:buSzPts val="1800"/>
              <a:buChar char="•"/>
              <a:defRPr>
                <a:solidFill>
                  <a:schemeClr val="bg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B6B6"/>
              </a:buClr>
              <a:buSzPts val="2400"/>
              <a:buNone/>
              <a:defRPr sz="2400" b="1">
                <a:solidFill>
                  <a:schemeClr val="bg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B6B6"/>
              </a:buClr>
              <a:buSzPts val="1800"/>
              <a:buChar char="•"/>
              <a:defRPr>
                <a:solidFill>
                  <a:schemeClr val="bg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4246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6190487"/>
            <a:ext cx="2919983" cy="671759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 rot="10800000">
            <a:off x="9272016" y="-4943"/>
            <a:ext cx="2919983" cy="671759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 ExtraBold"/>
              <a:buNone/>
              <a:defRPr sz="4400" b="1" i="0" u="none" strike="noStrike" cap="non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B6B6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B6B6B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ln>
            <a:noFill/>
          </a:ln>
          <a:solidFill>
            <a:schemeClr val="tx1"/>
          </a:solidFill>
          <a:effectLst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/>
        </p:nvSpPr>
        <p:spPr>
          <a:xfrm>
            <a:off x="1330301" y="2186244"/>
            <a:ext cx="6131184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Open Sans ExtraBold"/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1353468" y="1603897"/>
            <a:ext cx="6108017" cy="155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6500"/>
            </a:pPr>
            <a:r>
              <a:rPr lang="en-US" sz="2800" dirty="0">
                <a:latin typeface="Bookman Old Style" panose="02050604050505020204" pitchFamily="18" charset="0"/>
              </a:rPr>
              <a:t>Personalized Healthcare Appointment Scheduling via Deep Reinforcement Learning</a:t>
            </a:r>
            <a:endParaRPr sz="28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10772824" y="553380"/>
            <a:ext cx="121703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u="none" strike="noStrike" cap="none" dirty="0">
                <a:solidFill>
                  <a:schemeClr val="lt1"/>
                </a:solidFill>
                <a:latin typeface="OSWALD MEDIUMITALIC" panose="02000603000000000000" pitchFamily="2" charset="77"/>
                <a:ea typeface="Oswald"/>
                <a:cs typeface="Oswald"/>
                <a:sym typeface="Oswald"/>
              </a:rPr>
              <a:t>DATE HERE</a:t>
            </a:r>
            <a:endParaRPr i="1" dirty="0">
              <a:latin typeface="OSWALD MEDIUMITALIC" panose="02000603000000000000" pitchFamily="2" charset="7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353468" y="3157979"/>
            <a:ext cx="6786178" cy="45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75000"/>
              </a:lnSpc>
              <a:buClr>
                <a:schemeClr val="lt1"/>
              </a:buClr>
              <a:buSzPts val="1600"/>
            </a:pPr>
            <a:r>
              <a:rPr lang="en-IN" sz="1600" dirty="0">
                <a:latin typeface="Bookman Old Style" panose="02050604050505020204" pitchFamily="18" charset="0"/>
              </a:rPr>
              <a:t>Team: Subhiksha </a:t>
            </a:r>
            <a:r>
              <a:rPr lang="en-IN" sz="1600" dirty="0" err="1">
                <a:latin typeface="Bookman Old Style" panose="02050604050505020204" pitchFamily="18" charset="0"/>
              </a:rPr>
              <a:t>Saravanasundaram</a:t>
            </a:r>
            <a:r>
              <a:rPr lang="en-IN" sz="1600" dirty="0">
                <a:latin typeface="Bookman Old Style" panose="02050604050505020204" pitchFamily="18" charset="0"/>
              </a:rPr>
              <a:t> , Gauri Pawar</a:t>
            </a:r>
            <a:endParaRPr lang="en-US" sz="1600" spc="3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0038" y="5679556"/>
            <a:ext cx="1124260" cy="9936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04A757-0460-8794-1CF0-7279477D856C}"/>
              </a:ext>
            </a:extLst>
          </p:cNvPr>
          <p:cNvSpPr txBox="1"/>
          <p:nvPr/>
        </p:nvSpPr>
        <p:spPr>
          <a:xfrm>
            <a:off x="9238268" y="5750351"/>
            <a:ext cx="2384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Bookman Old Style" panose="02050604050505020204" pitchFamily="18" charset="0"/>
              </a:rPr>
              <a:t>Texas A&amp;M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/>
        </p:nvSpPr>
        <p:spPr>
          <a:xfrm>
            <a:off x="492760" y="554989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Problem Motivation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8FF9078E-9B95-EF04-233B-8D14C382E8A5}"/>
              </a:ext>
            </a:extLst>
          </p:cNvPr>
          <p:cNvSpPr txBox="1"/>
          <p:nvPr/>
        </p:nvSpPr>
        <p:spPr>
          <a:xfrm>
            <a:off x="838200" y="1900953"/>
            <a:ext cx="10515600" cy="34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Why appointment scheduling matters?</a:t>
            </a:r>
          </a:p>
          <a:p>
            <a:pPr>
              <a:buNone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Outpatient clinics suffer from: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Uncertain arrivals &amp; durations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No-show patients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Overcrowding and long waiting times</a:t>
            </a:r>
          </a:p>
          <a:p>
            <a:pPr lvl="2"/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Traditional methods used: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FIFO (fair but inefficient) 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SJF (efficient but unfair)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Need adaptive scheduling that reacts to real-time changes</a:t>
            </a:r>
          </a:p>
          <a:p>
            <a:pPr lvl="2"/>
            <a:endParaRPr lang="en-US" sz="16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BADFDAD-BE21-C329-E328-79D800654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8C0053EE-761A-E2FC-D6B9-3D9F524E8A7C}"/>
              </a:ext>
            </a:extLst>
          </p:cNvPr>
          <p:cNvSpPr txBox="1"/>
          <p:nvPr/>
        </p:nvSpPr>
        <p:spPr>
          <a:xfrm>
            <a:off x="492760" y="487166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RL Problem Framing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6C0F65C1-AC9C-C9E9-340C-D58D661517BE}"/>
              </a:ext>
            </a:extLst>
          </p:cNvPr>
          <p:cNvSpPr txBox="1"/>
          <p:nvPr/>
        </p:nvSpPr>
        <p:spPr>
          <a:xfrm>
            <a:off x="492760" y="1734532"/>
            <a:ext cx="6294539" cy="492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Scheduling as a Sequential Decision Problem</a:t>
            </a:r>
          </a:p>
          <a:p>
            <a:pPr>
              <a:buNone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State features: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Queue length, Patient severity, Predicted duration, No-show probability, Time of day 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Action: pick appointment slot: immediate / +1hr / +2hr / next day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FIFO (fair but inefficient) 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SJF (efficient but unfair)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    	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Reward penalizes: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waiting time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doctor idle time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missed appointments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434FDB-93DC-0898-2859-8921BAEDC856}"/>
              </a:ext>
            </a:extLst>
          </p:cNvPr>
          <p:cNvSpPr/>
          <p:nvPr/>
        </p:nvSpPr>
        <p:spPr>
          <a:xfrm>
            <a:off x="8533893" y="1149448"/>
            <a:ext cx="1508465" cy="75038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Bookman Old Style" panose="02050604050505020204" pitchFamily="18" charset="0"/>
              </a:rPr>
              <a:t>State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6BF345A2-EB7F-1558-38DE-299B5FA95A54}"/>
              </a:ext>
            </a:extLst>
          </p:cNvPr>
          <p:cNvSpPr/>
          <p:nvPr/>
        </p:nvSpPr>
        <p:spPr>
          <a:xfrm>
            <a:off x="9143810" y="1990654"/>
            <a:ext cx="254523" cy="527901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26F3F-2947-70A7-8C31-983A0A73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229" y="3539679"/>
            <a:ext cx="365792" cy="627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04555-6281-06E7-8C45-CE4EE510C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281" y="2609377"/>
            <a:ext cx="1615580" cy="8596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574DEE-6849-86A1-56C3-7FD5E5C40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893" y="4194927"/>
            <a:ext cx="1615580" cy="859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53850E-790C-A094-1A63-E88EE7FB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787" y="5156822"/>
            <a:ext cx="365792" cy="6279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DAC0AB-990E-5419-667E-1AA9570E7292}"/>
              </a:ext>
            </a:extLst>
          </p:cNvPr>
          <p:cNvSpPr/>
          <p:nvPr/>
        </p:nvSpPr>
        <p:spPr>
          <a:xfrm>
            <a:off x="8516838" y="2668190"/>
            <a:ext cx="1508465" cy="75038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Bookman Old Style" panose="02050604050505020204" pitchFamily="18" charset="0"/>
              </a:rPr>
              <a:t>Agent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06500B-3DF1-921E-EEBE-C6C021DC8EC2}"/>
              </a:ext>
            </a:extLst>
          </p:cNvPr>
          <p:cNvSpPr/>
          <p:nvPr/>
        </p:nvSpPr>
        <p:spPr>
          <a:xfrm>
            <a:off x="8590543" y="4249540"/>
            <a:ext cx="1508465" cy="75038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Bookman Old Style" panose="02050604050505020204" pitchFamily="18" charset="0"/>
              </a:rPr>
              <a:t>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730F59-1077-0905-0F96-1C2974AF8E0E}"/>
              </a:ext>
            </a:extLst>
          </p:cNvPr>
          <p:cNvSpPr/>
          <p:nvPr/>
        </p:nvSpPr>
        <p:spPr>
          <a:xfrm>
            <a:off x="8590543" y="5887048"/>
            <a:ext cx="1508465" cy="75038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Bookman Old Style" panose="02050604050505020204" pitchFamily="18" charset="0"/>
              </a:rPr>
              <a:t>New State</a:t>
            </a:r>
          </a:p>
        </p:txBody>
      </p:sp>
    </p:spTree>
    <p:extLst>
      <p:ext uri="{BB962C8B-B14F-4D97-AF65-F5344CB8AC3E}">
        <p14:creationId xmlns:p14="http://schemas.microsoft.com/office/powerpoint/2010/main" val="3101013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FA4612A-CD19-7447-64B5-83DFF372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83171AEE-1247-3593-F5FF-C3900C1878F7}"/>
              </a:ext>
            </a:extLst>
          </p:cNvPr>
          <p:cNvSpPr txBox="1"/>
          <p:nvPr/>
        </p:nvSpPr>
        <p:spPr>
          <a:xfrm>
            <a:off x="558747" y="427675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Algorithms Compared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0755FDEA-E228-FCA3-2F24-E7518669783C}"/>
              </a:ext>
            </a:extLst>
          </p:cNvPr>
          <p:cNvSpPr txBox="1"/>
          <p:nvPr/>
        </p:nvSpPr>
        <p:spPr>
          <a:xfrm>
            <a:off x="838200" y="1900953"/>
            <a:ext cx="4827309" cy="410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Compared Approaches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FIFO — first-come, first-serve   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SJF — shortest consultation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Tabular Q-Learning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    	Discretized state space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    	ε-greedy, α=0.1, γ=0.95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    	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Deep Q-Network (DQN)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Neural network (2×64 units)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Replay buffer with Adam optimizer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Continuous state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9E420-444A-611C-56F2-810AF5253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337" y="3691591"/>
            <a:ext cx="3444538" cy="2987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BCB57F-2E07-0D31-EE2F-DA255AEEE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358" y="1615283"/>
            <a:ext cx="3314987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57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974240E-630B-BC02-03A7-31AD0FE2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B0046AD4-D4A6-0C47-E6CD-844E6845B71B}"/>
              </a:ext>
            </a:extLst>
          </p:cNvPr>
          <p:cNvSpPr txBox="1"/>
          <p:nvPr/>
        </p:nvSpPr>
        <p:spPr>
          <a:xfrm>
            <a:off x="558747" y="427675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Simulation Setup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41757FF1-7452-E3A5-AC65-467479077E79}"/>
              </a:ext>
            </a:extLst>
          </p:cNvPr>
          <p:cNvSpPr txBox="1"/>
          <p:nvPr/>
        </p:nvSpPr>
        <p:spPr>
          <a:xfrm>
            <a:off x="558747" y="1545996"/>
            <a:ext cx="6117996" cy="50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How We Evaluated the Methods</a:t>
            </a:r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Clinic Simulation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8-hour day 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~55 patients/day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3 doctors15-minute slots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Arrival model: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Poisson + bimodal rush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Metrics: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Avg waiting time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Doctor utilization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Free time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Overtime</a:t>
            </a:r>
          </a:p>
          <a:p>
            <a:pPr lvl="2"/>
            <a:r>
              <a:rPr lang="en-US" sz="1600" dirty="0">
                <a:latin typeface="Bookman Old Style" panose="02050604050505020204" pitchFamily="18" charset="0"/>
              </a:rPr>
              <a:t>	Combined cost (weighted)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BE011-77F9-4E2E-21DB-9CD2AC250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557" y="1545996"/>
            <a:ext cx="3774245" cy="2337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E86AC6-267B-5AF9-51C6-E956A2321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557" y="4091232"/>
            <a:ext cx="3774245" cy="23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9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2747999" y="2761798"/>
            <a:ext cx="6696001" cy="79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"/>
              <a:buNone/>
            </a:pPr>
            <a:r>
              <a:rPr lang="en-US" sz="4800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DDA956B-3E1B-0F5B-571B-F9CEAE35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D132FC3F-73AA-F932-75E4-762CE38D2A89}"/>
              </a:ext>
            </a:extLst>
          </p:cNvPr>
          <p:cNvSpPr txBox="1"/>
          <p:nvPr/>
        </p:nvSpPr>
        <p:spPr>
          <a:xfrm>
            <a:off x="687911" y="395647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Performance Comparison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CE99E6BF-32BE-1CB5-2AE2-68B8C4BE1722}"/>
              </a:ext>
            </a:extLst>
          </p:cNvPr>
          <p:cNvSpPr txBox="1"/>
          <p:nvPr/>
        </p:nvSpPr>
        <p:spPr>
          <a:xfrm>
            <a:off x="3483204" y="4888187"/>
            <a:ext cx="6117996" cy="5062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SJF over-optimizes utilization → huge waiting times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DQN reduces waiting by ~50% vs FIFO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DQN generalizes better than Q-learning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No overtime, balanced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EB4CB-CF95-285B-1824-C807FADEF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541" y="1643013"/>
            <a:ext cx="3513124" cy="2983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C66DBF-25D8-27EB-AB2C-D44200667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63" y="1643013"/>
            <a:ext cx="4741682" cy="298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2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A0B7118-36BF-9FB9-066C-437F58976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95" y="1089918"/>
            <a:ext cx="4967924" cy="485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6724409-1D32-799C-F41C-DED1C7124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89918"/>
            <a:ext cx="4526531" cy="485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54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ED74FFE-1901-1750-4F42-820D9FAD9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03D27E06-32D9-4BDC-DB43-CCCDCA26148A}"/>
              </a:ext>
            </a:extLst>
          </p:cNvPr>
          <p:cNvSpPr txBox="1"/>
          <p:nvPr/>
        </p:nvSpPr>
        <p:spPr>
          <a:xfrm>
            <a:off x="492760" y="432441"/>
            <a:ext cx="9549598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Insights &amp; Discussion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CDE044DB-E60A-E934-AFB6-69D86E0FFEB4}"/>
              </a:ext>
            </a:extLst>
          </p:cNvPr>
          <p:cNvSpPr txBox="1"/>
          <p:nvPr/>
        </p:nvSpPr>
        <p:spPr>
          <a:xfrm>
            <a:off x="492760" y="1802355"/>
            <a:ext cx="10515600" cy="43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Key Takeaways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Reinforcement learning learns adaptive slot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RL balances multiple goals, unlike heuristics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    	Low waiting time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Stable utilization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	Low overtime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Reward design is crucial.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Continuous state features → strong generalization.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Q-Learning is interpretable, DQN is stronger</a:t>
            </a:r>
          </a:p>
        </p:txBody>
      </p:sp>
    </p:spTree>
    <p:extLst>
      <p:ext uri="{BB962C8B-B14F-4D97-AF65-F5344CB8AC3E}">
        <p14:creationId xmlns:p14="http://schemas.microsoft.com/office/powerpoint/2010/main" val="361048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C5E6EAC-B6D1-8683-5451-558F804B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B3BA61E8-B668-0C73-A231-1C1C57DDA69A}"/>
              </a:ext>
            </a:extLst>
          </p:cNvPr>
          <p:cNvSpPr txBox="1"/>
          <p:nvPr/>
        </p:nvSpPr>
        <p:spPr>
          <a:xfrm>
            <a:off x="492759" y="432441"/>
            <a:ext cx="10282077" cy="1247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 ExtraBold"/>
              <a:buNone/>
            </a:pPr>
            <a:r>
              <a:rPr lang="en-US" sz="5400" b="1" i="1" dirty="0">
                <a:solidFill>
                  <a:schemeClr val="tx1"/>
                </a:solidFill>
                <a:latin typeface="Bookman Old Style" panose="02050604050505020204" pitchFamily="18" charset="0"/>
                <a:ea typeface="Open Sans ExtraBold"/>
                <a:cs typeface="Open Sans ExtraBold"/>
                <a:sym typeface="Open Sans ExtraBold"/>
              </a:rPr>
              <a:t>Conclusion &amp; Future Work</a:t>
            </a:r>
            <a:endParaRPr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Google Shape;84;p2">
            <a:extLst>
              <a:ext uri="{FF2B5EF4-FFF2-40B4-BE49-F238E27FC236}">
                <a16:creationId xmlns:a16="http://schemas.microsoft.com/office/drawing/2014/main" id="{199FFC5D-138B-E626-3E8B-A6AAF145C5C1}"/>
              </a:ext>
            </a:extLst>
          </p:cNvPr>
          <p:cNvSpPr txBox="1"/>
          <p:nvPr/>
        </p:nvSpPr>
        <p:spPr>
          <a:xfrm>
            <a:off x="492759" y="1679807"/>
            <a:ext cx="10515600" cy="43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>
                <a:latin typeface="Bookman Old Style" panose="02050604050505020204" pitchFamily="18" charset="0"/>
              </a:rPr>
              <a:t>Key Takeaways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r>
              <a:rPr lang="en-US" sz="1600" dirty="0">
                <a:latin typeface="Bookman Old Style" panose="020506040505050202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RL significantly improves outpatient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DQN → best trade-off between patient experience &amp;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Heuristics are fast but inflexible</a:t>
            </a:r>
          </a:p>
          <a:p>
            <a:endParaRPr lang="en-US" sz="1600" dirty="0">
              <a:latin typeface="Bookman Old Style" panose="02050604050505020204" pitchFamily="18" charset="0"/>
            </a:endParaRPr>
          </a:p>
          <a:p>
            <a:r>
              <a:rPr lang="en-US" sz="1600" dirty="0">
                <a:latin typeface="Bookman Old Style" panose="020506040505050202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Multi-Agent RL for multi-doctor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Use real hospital data (e.g., MIMIC-III)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Better no-show </a:t>
            </a:r>
            <a:r>
              <a:rPr lang="en-US" sz="1600" dirty="0" err="1">
                <a:latin typeface="Bookman Old Style" panose="02050604050505020204" pitchFamily="18" charset="0"/>
              </a:rPr>
              <a:t>predictionActor</a:t>
            </a:r>
            <a:r>
              <a:rPr lang="en-US" sz="1600" dirty="0">
                <a:latin typeface="Bookman Old Style" panose="02050604050505020204" pitchFamily="18" charset="0"/>
              </a:rPr>
              <a:t>-Critic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man Old Style" panose="02050604050505020204" pitchFamily="18" charset="0"/>
              </a:rPr>
              <a:t>Automated 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304832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2287784" y="4026536"/>
            <a:ext cx="7616421" cy="79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Calibri"/>
              </a:rPr>
              <a:t>Texas A&amp;M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 - Grey">
      <a:dk1>
        <a:srgbClr val="500000"/>
      </a:dk1>
      <a:lt1>
        <a:srgbClr val="FFFFFF"/>
      </a:lt1>
      <a:dk2>
        <a:srgbClr val="3C001C"/>
      </a:dk2>
      <a:lt2>
        <a:srgbClr val="FAF7F3"/>
      </a:lt2>
      <a:accent1>
        <a:srgbClr val="3C041C"/>
      </a:accent1>
      <a:accent2>
        <a:srgbClr val="B6B6B6"/>
      </a:accent2>
      <a:accent3>
        <a:srgbClr val="FFFFFF"/>
      </a:accent3>
      <a:accent4>
        <a:srgbClr val="CCDCEA"/>
      </a:accent4>
      <a:accent5>
        <a:srgbClr val="D6D3C3"/>
      </a:accent5>
      <a:accent6>
        <a:srgbClr val="00648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917</Words>
  <Application>Microsoft Office PowerPoint</Application>
  <PresentationFormat>Widescreen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Open Sans</vt:lpstr>
      <vt:lpstr>Calibri</vt:lpstr>
      <vt:lpstr>Oswald</vt:lpstr>
      <vt:lpstr>OSWALD MEDIUMITALIC</vt:lpstr>
      <vt:lpstr>Open Sans ExtraBold</vt:lpstr>
      <vt:lpstr>Arial</vt:lpstr>
      <vt:lpstr>Open Sans ExtraBold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Crystal Giraldo</dc:creator>
  <cp:lastModifiedBy>Gauri Pawar</cp:lastModifiedBy>
  <cp:revision>4</cp:revision>
  <dcterms:created xsi:type="dcterms:W3CDTF">2018-11-09T21:25:09Z</dcterms:created>
  <dcterms:modified xsi:type="dcterms:W3CDTF">2025-12-09T01:47:37Z</dcterms:modified>
</cp:coreProperties>
</file>